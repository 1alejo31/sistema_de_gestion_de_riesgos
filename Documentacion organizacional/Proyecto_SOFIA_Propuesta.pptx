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Calibri"/>
              </a:rPr>
              <a:t>Distribución por concepto (COP)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Presupuesto (COP)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$#,##0.0,,&quot; M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3C4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Talento humano de desarrollo</c:v>
                  </c:pt>
                  <c:pt idx="1">
                    <c:v>Dirección de proyecto (PM, SM, PO)</c:v>
                  </c:pt>
                  <c:pt idx="2">
                    <c:v>Diseño UX/UI y aseguramiento de calidad</c:v>
                  </c:pt>
                  <c:pt idx="3">
                    <c:v>Infraestructura cloud y consumo de APIs de IA</c:v>
                  </c:pt>
                  <c:pt idx="4">
                    <c:v>Capacitación, documentación y transferencia</c:v>
                  </c:pt>
                  <c:pt idx="5">
                    <c:v>Licencias y herramientas del equipo</c:v>
                  </c:pt>
                  <c:pt idx="6">
                    <c:v>Reserva de contingencia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14300000</c:v>
                </c:pt>
                <c:pt idx="1">
                  <c:v>3900000</c:v>
                </c:pt>
                <c:pt idx="2">
                  <c:v>2600000</c:v>
                </c:pt>
                <c:pt idx="3">
                  <c:v>2340000</c:v>
                </c:pt>
                <c:pt idx="4">
                  <c:v>1300000</c:v>
                </c:pt>
                <c:pt idx="5">
                  <c:v>1040000</c:v>
                </c:pt>
                <c:pt idx="6">
                  <c:v>520000</c:v>
                </c:pt>
              </c:numCache>
            </c:numRef>
          </c:val>
        </c:ser>
        <c:dLbls>
          <c:numFmt formatCode="$#,##0.0,,&quot; M&quot;" sourceLinked="0"/>
          <c:txPr>
            <a:bodyPr/>
            <a:lstStyle/>
            <a:p>
              <a:pPr>
                <a:defRPr b="0" i="0" strike="noStrike" sz="900" u="none">
                  <a:solidFill>
                    <a:srgbClr val="0B3C4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223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0000"/>
        </c:scaling>
        <c:delete val="0"/>
        <c:axPos val="b"/>
        <c:majorGridlines>
          <c:spPr>
            <a:ln w="12700" cap="flat">
              <a:solidFill>
                <a:srgbClr val="E4EBEB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arranque del proyecto SOFIA. Aclarar desde el inicio: el alcance contratado cubre únicamente la etapa PLANEAR del ciclo PHVA, y tanto el cronograma como el presupuesto son estimaciones preliminares sujetas a la planificación detallada.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general de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Justificación del proyecto: el cumplimiento es obligatorio y sancionable, pero la operación sigue siendo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SOFIA no reemplaza al responsable del SG-SST: lo acelera. La IA propone, la persona aprueba.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crítico de la reunión: dejar por escrito que se entrega un solo ciclo, el de PLANEAR.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módulos replican uno a uno los procesos del diagrama entregado por 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flujo replica el diagrama entregado: entradas transversales, procesos de planificación y salidas hacia la etapa HACER.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el modelo de responsabilidad: la IA es asistencia, no sustituye la firma del profesional con licencia en SST.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 es de referencia. Las decisiones finales de tecnología se documentan en el Sprint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convivencia de los dos marcos: PMI hacia el patrocinador, Scrum hacia 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 clave. El especialista en SST del cliente es indispensable para la validación normativa.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Gantt tentativo: 22 semanas hábiles, 8 sprints de 2 semanas, con receso de fin de año. Insistir en que las fechas son preliminares.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Ocho sprints. El Sprint 0 no entrega funcionalidad de negocio, sino la base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presupuesto de 26 millones COP asume dedicaciones parciales en varios roles. La reserva de contingencia es del 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Riesgos priorizados. El más sensible es el alcance frente al presupuesto disponible.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criterios de aceptación se firman junto con el acta de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visión de largo plazo sin comprometer alcance ni precio de los ciclos siguientes.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pedir decisión sobre la aprobación para poder cumplir la fecha de inicio del 1 de septiembre.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737360"/>
            <a:ext cx="5669280" cy="5669280"/>
          </a:xfrm>
          <a:prstGeom prst="ellipse">
            <a:avLst/>
          </a:prstGeom>
          <a:solidFill>
            <a:srgbClr val="12455A"/>
          </a:solidFill>
          <a:ln w="12700">
            <a:solidFill>
              <a:srgbClr val="1245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4023360"/>
            <a:ext cx="3108960" cy="31089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PROYECTO ·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SOFIA</a:t>
            </a:r>
            <a:endParaRPr lang="en-US" sz="8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2491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Operativo Funcional de Información y Acompañamiento en SST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inteligente con IA y agentes para la gestión de la Seguridad y Salud en el Trabajo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2487168" cy="868680"/>
          </a:xfrm>
          <a:prstGeom prst="roundRect">
            <a:avLst>
              <a:gd name="adj" fmla="val 10526"/>
            </a:avLst>
          </a:prstGeom>
          <a:solidFill>
            <a:srgbClr val="12455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445312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467258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meses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401568" y="4343400"/>
            <a:ext cx="2487168" cy="868680"/>
          </a:xfrm>
          <a:prstGeom prst="roundRect">
            <a:avLst>
              <a:gd name="adj" fmla="val 10526"/>
            </a:avLst>
          </a:prstGeom>
          <a:solidFill>
            <a:srgbClr val="12455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445312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467258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$26.000.000 COP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54496" y="4343400"/>
            <a:ext cx="2487168" cy="868680"/>
          </a:xfrm>
          <a:prstGeom prst="roundRect">
            <a:avLst>
              <a:gd name="adj" fmla="val 10526"/>
            </a:avLst>
          </a:prstGeom>
          <a:solidFill>
            <a:srgbClr val="12455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19088" y="445312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19088" y="467258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sep 2026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107424" y="4343400"/>
            <a:ext cx="2487168" cy="868680"/>
          </a:xfrm>
          <a:prstGeom prst="roundRect">
            <a:avLst>
              <a:gd name="adj" fmla="val 10526"/>
            </a:avLst>
          </a:prstGeom>
          <a:solidFill>
            <a:srgbClr val="12455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72016" y="445312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272016" y="467258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+ Scrum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06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4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 este contrato: etapa PLANEAR del ciclo PHVA — un (1) ciclo, por decisión de los stakeholders. Cronograma y costos preliminares (tentativos).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presentación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4996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problema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1801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SG-SST necesita una herramienta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4323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SOFIA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7340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Concepto, propuesta de valor y diferenciales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19856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3649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proyecto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6667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ciclo: etapa PLANEAR del PHVA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297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funcionales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599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11 procesos de planificación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285232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52303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IA y agentes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5532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integra ChatGPT / Claude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554480"/>
            <a:ext cx="384048" cy="384048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967728" y="14996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967728" y="1801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Capas, datos y seguridad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2487168"/>
            <a:ext cx="384048" cy="384048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967728" y="24323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6967728" y="27340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para el proyecto, Scrum para el producto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3419856"/>
            <a:ext cx="384048" cy="384048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967728" y="33649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y sprints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6967728" y="36667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Gantt tentativo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4352544"/>
            <a:ext cx="384048" cy="384048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967728" y="4297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6967728" y="4599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los $26.000.000 COP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5285232"/>
            <a:ext cx="384048" cy="384048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967728" y="52303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próximos pasos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6967728" y="5532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Mitigaciones y roadmap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SG-SST es obligatorio, pero se gestiona en hojas de cálculo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FF4F4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6276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SMMLV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5915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máxima por incumplimiento del SG-SST (Decreto 1072 de 2015)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07408" y="1481328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FF4F4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6276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60+</a:t>
            </a:r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Estándares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35915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mínimos verificables según la Resolución 0312 de 2019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66176" y="1481328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FF4F4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22208" y="16276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Procesos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522208" y="235915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que componen la etapa PLANEAR del ciclo PHVA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Dolores que hoy enfrentan las empresas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858768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078224"/>
            <a:ext cx="566928" cy="566928"/>
          </a:xfrm>
          <a:prstGeom prst="ellipse">
            <a:avLst/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206240"/>
            <a:ext cx="310896" cy="31089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04672" y="4773168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dispersa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" y="5084064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de peligros, políticas y planes viven en Excel y Word sin trazabilidad ni versionamiento.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419856" y="3858768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75888" y="4078224"/>
            <a:ext cx="566928" cy="566928"/>
          </a:xfrm>
          <a:prstGeom prst="ellipse">
            <a:avLst/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4206240"/>
            <a:ext cx="310896" cy="31089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675888" y="4773168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legal desactualizada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3675888" y="5084064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normatividad cambia y la revisión manual consume días de trabajo especializado.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291072" y="3858768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547104" y="4078224"/>
            <a:ext cx="566928" cy="566928"/>
          </a:xfrm>
          <a:prstGeom prst="ellipse">
            <a:avLst/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206240"/>
            <a:ext cx="310896" cy="31089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547104" y="4773168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del experto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547104" y="5084064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conocimiento del SG-SST está en la cabeza de una sola persona.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9162288" y="3858768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418320" y="4078224"/>
            <a:ext cx="566928" cy="566928"/>
          </a:xfrm>
          <a:prstGeom prst="ellipse">
            <a:avLst/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36" y="4206240"/>
            <a:ext cx="310896" cy="31089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418320" y="4773168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tardíos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9418320" y="5084064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desempeño se mide al cierre del año, cuando ya no hay margen de corrección.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referencia según el marco normativo colombiano vigente al momento de la propuesta.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SOFIA: un CRM que gestiona relaciones, riesgos y cumplimiento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CRM, pero de personas expuestas a riesgo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F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aplica la lógica de un CRM —un registro central, un ciclo de vida y una trazabilidad por cada relación— a los actores del Sistema de Gestión de Seguridad y Salud en el Trabajo: trabajadores, áreas, contratistas, proveedores, la ARL y las autoridades.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F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esa base se construye una capa de inteligencia artificial que redacta, clasifica, compara contra la norma y sugiere, dejando siempre la decisión final en el responsable del SG-SST.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89320" y="1481328"/>
            <a:ext cx="565099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27064" y="1746504"/>
            <a:ext cx="512064" cy="512064"/>
          </a:xfrm>
          <a:prstGeom prst="ellipse">
            <a:avLst/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5936" y="186537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903720" y="1664208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CRM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1938528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único de empresa, áreas, cargos, trabajadores, contratistas y partes interesadas, con historial completo.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989320" y="2633472"/>
            <a:ext cx="565099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27064" y="2898648"/>
            <a:ext cx="512064" cy="512064"/>
          </a:xfrm>
          <a:prstGeom prst="ellipse">
            <a:avLst/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301752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903720" y="2816352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 de IA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6903720" y="3090672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como Claude o GPT redactan políticas, objetivos y programas a partir del contexto real de la empresa.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989320" y="3785616"/>
            <a:ext cx="565099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27064" y="4050792"/>
            <a:ext cx="512064" cy="512064"/>
          </a:xfrm>
          <a:prstGeom prst="ellipse">
            <a:avLst/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416966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903720" y="3968496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autónomos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6903720" y="4242816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que vigilan la normatividad, cruzan requisitos legales y alertan sobre vencimientos y desviaciones.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989320" y="4937760"/>
            <a:ext cx="5650992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27064" y="5202936"/>
            <a:ext cx="512064" cy="512064"/>
          </a:xfrm>
          <a:prstGeom prst="ellipse">
            <a:avLst/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5321808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03720" y="5120640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trazable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6903720" y="5394960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documento, decisión y aprobación queda versionada y lista para auditoría o visita de la ARL.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ciclo: la etapa PLANEAR del PHVA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DF3E3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los stakeholders: este contrato desarrolla únicamente la etapa PLANEAR. Las etapas Hacer, Verificar y Actuar quedan fuera del alcance y se contratarán en ciclos posteriores.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463040" cy="14630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774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3950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4187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alcance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2560320"/>
            <a:ext cx="1097280" cy="1097280"/>
          </a:xfrm>
          <a:prstGeom prst="ellipse">
            <a:avLst/>
          </a:prstGeom>
          <a:solidFill>
            <a:srgbClr val="B9C6C6"/>
          </a:solidFill>
          <a:ln w="12700">
            <a:solidFill>
              <a:srgbClr val="B9C6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3160" y="2560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3767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40050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futuro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0" y="2560320"/>
            <a:ext cx="1097280" cy="1097280"/>
          </a:xfrm>
          <a:prstGeom prst="ellipse">
            <a:avLst/>
          </a:prstGeom>
          <a:solidFill>
            <a:srgbClr val="B9C6C6"/>
          </a:solidFill>
          <a:ln w="12700">
            <a:solidFill>
              <a:srgbClr val="B9C6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0" y="2560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767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40050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futuro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57800" y="2560320"/>
            <a:ext cx="1097280" cy="1097280"/>
          </a:xfrm>
          <a:prstGeom prst="ellipse">
            <a:avLst/>
          </a:prstGeom>
          <a:solidFill>
            <a:srgbClr val="B9C6C6"/>
          </a:solidFill>
          <a:ln w="12700">
            <a:solidFill>
              <a:srgbClr val="B9C6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57800" y="2560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3767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40050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futuro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40880" y="2194560"/>
            <a:ext cx="4599432" cy="3703320"/>
          </a:xfrm>
          <a:prstGeom prst="roundRect">
            <a:avLst>
              <a:gd name="adj" fmla="val 1975"/>
            </a:avLst>
          </a:prstGeom>
          <a:solidFill>
            <a:srgbClr val="EFF4F4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0" y="23957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SÍ incluye este ciclo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2724912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11 módulos de planificación del SG-SST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CRM y gestión de actores transversales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IA generativa y dos agentes autónomos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Reportes, tableros e indicadores de la planeación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Despliegue, capacitación y transferencia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42245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incluye (ciclos posteriores)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4553712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operativa: inspecciones, EPP, capacitaciones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internas y revisión por la alta dirección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correctivas, preventivas y de mejora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nómina, ARL o sistemas contables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alcance aquí definido es la base del contrato; cualquier cambio se gestiona por control integrado de cambios (PMI).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11 procesos de planificación son los 11 módulos de SOFIA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60020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6312" y="1618488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8368" y="2020824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295144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 la organización, procesos, áreas, cargos y trabajadores.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46704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47872" y="160020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47872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618488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47872" y="2020824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inicial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547872" y="2295144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 el estado del SG-SST frente a los estándares mínimos.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36208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37376" y="160020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37376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618488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37376" y="2020824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SST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37376" y="2295144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 y aprueba la política con el compromiso de la alta dirección.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9125712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326880" y="160020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32688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4" y="1618488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326880" y="2020824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SST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326880" y="2295144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objetivos y metas medibles, alineados con la política.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57200" y="3035808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58368" y="3218688"/>
            <a:ext cx="347472" cy="347472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58368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312" y="3236976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58368" y="363931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legales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658368" y="3913632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y evalúa la matriz legal aplicable a la empresa.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3346704" y="3035808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547872" y="3218688"/>
            <a:ext cx="347472" cy="347472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3547872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5816" y="3236976"/>
            <a:ext cx="310896" cy="310896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3547872" y="363931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peligros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3547872" y="3913632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peligros por proceso, actividad y tarea.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6236208" y="3035808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437376" y="3218688"/>
            <a:ext cx="347472" cy="347472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6437376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3236976"/>
            <a:ext cx="310896" cy="310896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6437376" y="363931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 de riesgos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6437376" y="3913632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nivel de riesgo y determina su aceptabilidad.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9125712" y="3035808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9326880" y="3218688"/>
            <a:ext cx="347472" cy="347472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932688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64824" y="3236976"/>
            <a:ext cx="310896" cy="310896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9326880" y="363931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de gestión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9326880" y="3913632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los programas para controlar riesgos y mejorar.</a:t>
            </a:r>
            <a:endParaRPr lang="en-US" sz="950" dirty="0"/>
          </a:p>
        </p:txBody>
      </p:sp>
      <p:sp>
        <p:nvSpPr>
          <p:cNvPr id="52" name="Shape 42"/>
          <p:cNvSpPr/>
          <p:nvPr/>
        </p:nvSpPr>
        <p:spPr>
          <a:xfrm>
            <a:off x="457200" y="4654296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658368" y="4837176"/>
            <a:ext cx="347472" cy="347472"/>
          </a:xfrm>
          <a:prstGeom prst="ellipse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658368" y="4837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96312" y="4855464"/>
            <a:ext cx="310896" cy="310896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658368" y="525780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200" dirty="0"/>
          </a:p>
        </p:txBody>
      </p:sp>
      <p:sp>
        <p:nvSpPr>
          <p:cNvPr id="57" name="Text 46"/>
          <p:cNvSpPr txBox="1"/>
          <p:nvPr/>
        </p:nvSpPr>
        <p:spPr>
          <a:xfrm>
            <a:off x="658368" y="553212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y asigna recursos humanos, técnicos y financieros.</a:t>
            </a:r>
            <a:endParaRPr lang="en-US" sz="950" dirty="0"/>
          </a:p>
        </p:txBody>
      </p:sp>
      <p:sp>
        <p:nvSpPr>
          <p:cNvPr id="58" name="Shape 47"/>
          <p:cNvSpPr/>
          <p:nvPr/>
        </p:nvSpPr>
        <p:spPr>
          <a:xfrm>
            <a:off x="3346704" y="4654296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3547872" y="4837176"/>
            <a:ext cx="347472" cy="347472"/>
          </a:xfrm>
          <a:prstGeom prst="ellipse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60" name="Text 49"/>
          <p:cNvSpPr txBox="1"/>
          <p:nvPr/>
        </p:nvSpPr>
        <p:spPr>
          <a:xfrm>
            <a:off x="3547872" y="4837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85816" y="4855464"/>
            <a:ext cx="310896" cy="310896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3547872" y="525780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3547872" y="553212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indicadores de estructura, proceso y resultado.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6236208" y="4654296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6437376" y="4837176"/>
            <a:ext cx="347472" cy="347472"/>
          </a:xfrm>
          <a:prstGeom prst="ellipse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66" name="Text 54"/>
          <p:cNvSpPr txBox="1"/>
          <p:nvPr/>
        </p:nvSpPr>
        <p:spPr>
          <a:xfrm>
            <a:off x="6437376" y="4837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5320" y="4855464"/>
            <a:ext cx="310896" cy="310896"/>
          </a:xfrm>
          <a:prstGeom prst="rect">
            <a:avLst/>
          </a:prstGeom>
        </p:spPr>
      </p:pic>
      <p:sp>
        <p:nvSpPr>
          <p:cNvPr id="68" name="Text 55"/>
          <p:cNvSpPr txBox="1"/>
          <p:nvPr/>
        </p:nvSpPr>
        <p:spPr>
          <a:xfrm>
            <a:off x="6437376" y="525780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anual de trabajo</a:t>
            </a:r>
            <a:endParaRPr lang="en-US" sz="1200" dirty="0"/>
          </a:p>
        </p:txBody>
      </p:sp>
      <p:sp>
        <p:nvSpPr>
          <p:cNvPr id="69" name="Text 56"/>
          <p:cNvSpPr txBox="1"/>
          <p:nvPr/>
        </p:nvSpPr>
        <p:spPr>
          <a:xfrm>
            <a:off x="6437376" y="553212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actividades, responsables, metas y cronograma.</a:t>
            </a:r>
            <a:endParaRPr lang="en-US" sz="950" dirty="0"/>
          </a:p>
        </p:txBody>
      </p:sp>
      <p:sp>
        <p:nvSpPr>
          <p:cNvPr id="70" name="Shape 57"/>
          <p:cNvSpPr/>
          <p:nvPr/>
        </p:nvSpPr>
        <p:spPr>
          <a:xfrm>
            <a:off x="9125712" y="4654296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1" name="Text 58"/>
          <p:cNvSpPr txBox="1"/>
          <p:nvPr/>
        </p:nvSpPr>
        <p:spPr>
          <a:xfrm>
            <a:off x="9326880" y="4837176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y mejora continua de la planeación</a:t>
            </a:r>
            <a:endParaRPr lang="en-US" sz="1200" dirty="0"/>
          </a:p>
        </p:txBody>
      </p:sp>
      <p:sp>
        <p:nvSpPr>
          <p:cNvPr id="72" name="Text 59"/>
          <p:cNvSpPr txBox="1"/>
          <p:nvPr/>
        </p:nvSpPr>
        <p:spPr>
          <a:xfrm>
            <a:off x="9326880" y="5660136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a los 11 módulos</a:t>
            </a:r>
            <a:endParaRPr lang="en-US" sz="950" dirty="0"/>
          </a:p>
        </p:txBody>
      </p:sp>
      <p:sp>
        <p:nvSpPr>
          <p:cNvPr id="73" name="Text 60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mantiene el flujo lógico del diagrama de la etapa PLANEAR: alimenta al siguiente y retroalimenta a los anteriores.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FUNCIONAL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Entradas, procesamiento y salidas de la planeación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200400" cy="4480560"/>
          </a:xfrm>
          <a:prstGeom prst="roundRect">
            <a:avLst>
              <a:gd name="adj" fmla="val 2286"/>
            </a:avLst>
          </a:prstGeom>
          <a:solidFill>
            <a:srgbClr val="EFF4F4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95681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transversal consultada por todos los procesos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95728"/>
            <a:ext cx="2697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 de la empresa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Normatividad aplicable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partes interesadas (ARL, clientes, autoridades)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histórica del SG-SST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Procesos, áreas y actividades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y registros existentes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disponibles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60520" y="1481328"/>
            <a:ext cx="3840480" cy="4480560"/>
          </a:xfrm>
          <a:prstGeom prst="roundRect">
            <a:avLst>
              <a:gd name="adj" fmla="val 1905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SOFIA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212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planificación asistido por IA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269748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12455A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697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estructurada de datos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34840" y="3319272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12455A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90288" y="33192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 generada por LLM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34840" y="3941064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12455A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90288" y="39410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del responsable SG-SST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34840" y="4562856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12455A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90288" y="45628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 la alta dirección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34840" y="5184648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12455A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90288" y="51846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y trazabilidad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21608" y="3520440"/>
            <a:ext cx="457200" cy="411480"/>
          </a:xfrm>
          <a:prstGeom prst="rightArrow">
            <a:avLst/>
          </a:prstGeom>
          <a:solidFill>
            <a:srgbClr val="4FA8A2"/>
          </a:solidFill>
          <a:ln w="12700">
            <a:solidFill>
              <a:srgbClr val="4FA8A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27848" y="3520440"/>
            <a:ext cx="457200" cy="411480"/>
          </a:xfrm>
          <a:prstGeom prst="rightArrow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39912" y="1481328"/>
            <a:ext cx="3200400" cy="4480560"/>
          </a:xfrm>
          <a:prstGeom prst="roundRect">
            <a:avLst>
              <a:gd name="adj" fmla="val 2286"/>
            </a:avLst>
          </a:prstGeom>
          <a:solidFill>
            <a:srgbClr val="FDF3E3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95944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695944" y="195681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la planeación, base de la etapa HACER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695944" y="2395728"/>
            <a:ext cx="2697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del SG-SST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y metas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legal actualizada y evaluada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peligros identificados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riesgos y prioridades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de gestión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definidos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anual de trabajo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 transversales del sistema: alta dirección, responsable del SG-SST, COPASST, comité de convivencia, jefes de área, trabajadores, contratistas y proveedores.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integran los modelos y qué hace cada agente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no entrena modelos propios: consume modelos de frontera (Claude de Anthropic y GPT de OpenAI) vía API, con una capa de orquestación, contexto empresarial y guardrails desarrollada a la medida.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167128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951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1122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Normativo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423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343400" y="21488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 cambios en la normatividad colombiana de SST, propone actualizaciones a la matriz legal y marca los requisitos que la empresa dejó de cumplir.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99008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3191256"/>
            <a:ext cx="512064" cy="512064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1927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63040" y="3136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Riesgos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1463040" y="3447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6 y 7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4343400" y="317296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Sugiere peligros típicos por actividad económica y cargo, y apoya la valoración del riesgo bajo la metodología adoptada por la empresa.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4014216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86384" y="4215384"/>
            <a:ext cx="512064" cy="512064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43400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63040" y="4160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 Redactor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1463040" y="4471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3, 4, 8 y 11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4343400" y="419709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borradores de política, objetivos, programas de gestión y plan anual usando el contexto real cargado en el CRM.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5038344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86384" y="5239512"/>
            <a:ext cx="512064" cy="512064"/>
          </a:xfrm>
          <a:prstGeom prst="ellipse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367528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463040" y="5184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Documental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1463040" y="54955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4343400" y="522122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preguntas en lenguaje natural sobre los documentos del sistema mediante búsqueda semántica (RAG).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48640" y="608076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FF4F4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77240" y="6080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rector: la IA propone, la persona dispone. Toda salida generada requiere revisión y aprobación explícita del responsable del SG-SST antes de tener validez documental.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capas, un sistema auditable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4FA8A2"/>
          </a:solidFill>
          <a:ln w="12700">
            <a:solidFill>
              <a:srgbClr val="4FA8A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81328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57276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responsive · Portal del trabajador · Tableros de indicadores · Exportación a PDF y Excel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39572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5176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395728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931920" y="248716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· Motor de reglas del SG-SST · Flujos de aprobación · Gestión documental y versionado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331012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12455A"/>
          </a:solidFill>
          <a:ln w="12700">
            <a:solidFill>
              <a:srgbClr val="12455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6616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310128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Y AGENTES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3931920" y="340156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 de agentes · Conectores a Claude y GPT · RAG sobre normatividad · Guardrails y control de costos por token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422452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8056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63040" y="4224528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3931920" y="431596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relacional (PostgreSQL) · Almacenamiento de archivos · Base vectorial · Bitácora de auditoría inmutable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513892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5A6B72"/>
          </a:solidFill>
          <a:ln w="12700">
            <a:solidFill>
              <a:srgbClr val="5A6B72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39496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5138928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3931920" y="523036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roles · Cifrado en tránsito y reposo · Habeas data (Ley 1581 de 2012) · Copias de respaldo y monitoreo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stack tecnológico definitivo se cierra en el Sprint 0 junto con el equipo técnico y el cliente; lo anterior es la arquitectura de referencia propuesta.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PMI gobierna el proyecto, Scrum construye el producto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PROYECTO — PMI (PMBOK)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2121408" cy="1371600"/>
          </a:xfrm>
          <a:prstGeom prst="roundRect">
            <a:avLst>
              <a:gd name="adj" fmla="val 4667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10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3969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432304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DE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constitución, identificación de interesados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98064" y="1700784"/>
            <a:ext cx="2121408" cy="1371600"/>
          </a:xfrm>
          <a:prstGeom prst="roundRect">
            <a:avLst>
              <a:gd name="adj" fmla="val 4667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62656" y="1810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962656" y="213969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62656" y="2432304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DE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Alcance, EDT, cronograma, costos, riesgos, calidad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47488" y="1700784"/>
            <a:ext cx="2121408" cy="1371600"/>
          </a:xfrm>
          <a:prstGeom prst="roundRect">
            <a:avLst>
              <a:gd name="adj" fmla="val 4667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1810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13969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2432304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DE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Sprints, aseguramiento de calidad, gestión del equipo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96912" y="1700784"/>
            <a:ext cx="2121408" cy="1371600"/>
          </a:xfrm>
          <a:prstGeom prst="roundRect">
            <a:avLst>
              <a:gd name="adj" fmla="val 4667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61504" y="1810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461504" y="213969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control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461504" y="2432304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DE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ganado, control de cambios, informes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546336" y="1700784"/>
            <a:ext cx="2121408" cy="1371600"/>
          </a:xfrm>
          <a:prstGeom prst="roundRect">
            <a:avLst>
              <a:gd name="adj" fmla="val 4667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10928" y="18105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710928" y="213969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710928" y="2432304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DE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Aceptación formal, lecciones aprendidas, transferencia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PRODUCTO — SCRUM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621024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EFF4F4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" y="3822192"/>
            <a:ext cx="493776" cy="49377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3941064"/>
            <a:ext cx="256032" cy="256032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786384" y="442569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86384" y="470001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priorizadas por el Product Owner con el responsable del SG-SST.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419856" y="3621024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EFF4F4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657600" y="3822192"/>
            <a:ext cx="493776" cy="49377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3941064"/>
            <a:ext cx="256032" cy="25603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3657600" y="442569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semanas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3657600" y="470001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sprints en total, cada uno con incremento funcional desplegable.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291072" y="3621024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EFF4F4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528816" y="3822192"/>
            <a:ext cx="493776" cy="49377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3941064"/>
            <a:ext cx="256032" cy="256032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6528816" y="442569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Ceremonias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6528816" y="470001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daily de 15 min, review con el cliente y retrospectiva.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9162288" y="3621024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EFF4F4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9400032" y="3822192"/>
            <a:ext cx="493776" cy="49377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904" y="3941064"/>
            <a:ext cx="256032" cy="256032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9400032" y="442569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9400032" y="4700016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revisado, pruebas superadas, documentado y desplegado en ambiente de pruebas.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FDF3E3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777240" y="57150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encuentro: cada Sprint Review alimenta el informe de desempeño del PMI, y cada solicitud de cambio del cliente entra al Product Backlog previa evaluación de impacto en alcance, tiempo y costo.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del proyecto y roles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19072"/>
            <a:ext cx="621792" cy="621792"/>
          </a:xfrm>
          <a:prstGeom prst="ellipse">
            <a:avLst/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8653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4505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Proyecto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por alcance, tiempo, costo y comunicación con el patrocinador. Aplica PMI.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54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Dedicación parcial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15968" y="148132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0288" y="1719072"/>
            <a:ext cx="621792" cy="621792"/>
          </a:xfrm>
          <a:prstGeom prst="ellipse">
            <a:avLst/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86537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90288" y="24505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590288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ceremonias, remueve impedimentos y protege el ritmo del equipo.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590288" y="3154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Dedicación parcial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083296" y="148132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57616" y="1719072"/>
            <a:ext cx="621792" cy="621792"/>
          </a:xfrm>
          <a:prstGeom prst="ellipse">
            <a:avLst/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6537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57616" y="24505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357616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el backlog y traduce la necesidad del SG-SST en historias de usuario.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8357616" y="3154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Dedicación parcial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8640" y="367588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22960" y="3913632"/>
            <a:ext cx="621792" cy="621792"/>
          </a:xfrm>
          <a:prstGeom prst="ellipse">
            <a:avLst/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059936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22960" y="46451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Desarrollo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4937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full-stack e integración de la capa de IA y agentes.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349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Dedicación completa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315968" y="367588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90288" y="3913632"/>
            <a:ext cx="621792" cy="621792"/>
          </a:xfrm>
          <a:prstGeom prst="ellipse">
            <a:avLst/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059936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590288" y="46451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UX/UI y QA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4590288" y="4937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Prototipado, diseño de interfaz y pruebas funcionales por sprint.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4590288" y="5349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Dedicación parcial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8083296" y="367588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357616" y="3913632"/>
            <a:ext cx="621792" cy="621792"/>
          </a:xfrm>
          <a:prstGeom prst="ellipse">
            <a:avLst/>
          </a:prstGeom>
          <a:solidFill>
            <a:srgbClr val="EFF4F4"/>
          </a:solidFill>
          <a:ln w="12700">
            <a:solidFill>
              <a:srgbClr val="EFF4F4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059936"/>
            <a:ext cx="329184" cy="32918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357616" y="46451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en SST</a:t>
            </a:r>
            <a:endParaRPr lang="en-US" sz="1350" dirty="0"/>
          </a:p>
        </p:txBody>
      </p:sp>
      <p:sp>
        <p:nvSpPr>
          <p:cNvPr id="38" name="Text 30"/>
          <p:cNvSpPr txBox="1"/>
          <p:nvPr/>
        </p:nvSpPr>
        <p:spPr>
          <a:xfrm>
            <a:off x="8357616" y="4937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que cada módulo cumpla el marco normativo. Aportado por el cliente.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8357616" y="5349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parte del cliente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conformación definitiva del equipo y las dedicaciones se ajustan en la planificación detallada del proyecto.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TENTATIVO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Gantt · 01 sep 2026 – 29 ene 2027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86200" y="1389888"/>
            <a:ext cx="1413164" cy="274320"/>
          </a:xfrm>
          <a:prstGeom prst="rect">
            <a:avLst/>
          </a:prstGeom>
          <a:solidFill>
            <a:srgbClr val="0B3C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886200" y="1389888"/>
            <a:ext cx="1413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'26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299364" y="1389888"/>
            <a:ext cx="1766455" cy="274320"/>
          </a:xfrm>
          <a:prstGeom prst="rect">
            <a:avLst/>
          </a:prstGeom>
          <a:solidFill>
            <a:srgbClr val="1245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299364" y="1389888"/>
            <a:ext cx="176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'26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065818" y="1389888"/>
            <a:ext cx="1413164" cy="274320"/>
          </a:xfrm>
          <a:prstGeom prst="rect">
            <a:avLst/>
          </a:prstGeom>
          <a:solidFill>
            <a:srgbClr val="0B3C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65818" y="1389888"/>
            <a:ext cx="1413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'26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478982" y="1389888"/>
            <a:ext cx="1413164" cy="274320"/>
          </a:xfrm>
          <a:prstGeom prst="rect">
            <a:avLst/>
          </a:prstGeom>
          <a:solidFill>
            <a:srgbClr val="1245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78982" y="1389888"/>
            <a:ext cx="1413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 '26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892145" y="1389888"/>
            <a:ext cx="1766455" cy="274320"/>
          </a:xfrm>
          <a:prstGeom prst="rect">
            <a:avLst/>
          </a:prstGeom>
          <a:solidFill>
            <a:srgbClr val="0B3C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92145" y="1389888"/>
            <a:ext cx="176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 '27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86200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39491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2782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46073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99364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52655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05945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9236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12527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65818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19109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25691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78982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32273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85564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38855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92145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45436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98727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52018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305309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658600" y="1664208"/>
            <a:ext cx="0" cy="4078224"/>
          </a:xfrm>
          <a:prstGeom prst="line">
            <a:avLst/>
          </a:prstGeom>
          <a:noFill/>
          <a:ln w="6350">
            <a:solidFill>
              <a:srgbClr val="E4EB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1719072"/>
            <a:ext cx="3246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del proyecto  </a:t>
            </a:r>
            <a:pPr indent="0" marL="0">
              <a:buNone/>
            </a:pPr>
            <a:r>
              <a:rPr lang="en-US" sz="8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01–11 sep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904488" y="1773936"/>
            <a:ext cx="670006" cy="178308"/>
          </a:xfrm>
          <a:prstGeom prst="roundRect">
            <a:avLst>
              <a:gd name="adj" fmla="val 179487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2007108"/>
            <a:ext cx="11201400" cy="288036"/>
          </a:xfrm>
          <a:prstGeom prst="rect">
            <a:avLst/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2007108"/>
            <a:ext cx="3246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 </a:t>
            </a:r>
            <a:pPr indent="0" marL="0">
              <a:buNone/>
            </a:pPr>
            <a:r>
              <a:rPr lang="en-US" sz="8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08–25 sep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57779" y="2061972"/>
            <a:ext cx="1023297" cy="178308"/>
          </a:xfrm>
          <a:prstGeom prst="roundRect">
            <a:avLst>
              <a:gd name="adj" fmla="val 179487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2295144"/>
            <a:ext cx="3246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(sprints)  </a:t>
            </a:r>
            <a:pPr indent="0" marL="0">
              <a:buNone/>
            </a:pPr>
            <a:r>
              <a:rPr lang="en-US" sz="8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sep – 15 ene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64361" y="2350008"/>
            <a:ext cx="5969369" cy="178308"/>
          </a:xfrm>
          <a:prstGeom prst="roundRect">
            <a:avLst>
              <a:gd name="adj" fmla="val 179487"/>
            </a:avLst>
          </a:prstGeom>
          <a:solidFill>
            <a:srgbClr val="12455A"/>
          </a:solidFill>
          <a:ln w="12700">
            <a:solidFill>
              <a:srgbClr val="1245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" y="2583180"/>
            <a:ext cx="11201400" cy="288036"/>
          </a:xfrm>
          <a:prstGeom prst="rect">
            <a:avLst/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8640" y="2583180"/>
            <a:ext cx="3246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control  </a:t>
            </a:r>
            <a:pPr indent="0" marL="0">
              <a:buNone/>
            </a:pPr>
            <a:r>
              <a:rPr lang="en-US" sz="8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sep – 29 ene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904488" y="2638044"/>
            <a:ext cx="7735824" cy="178308"/>
          </a:xfrm>
          <a:prstGeom prst="roundRect">
            <a:avLst>
              <a:gd name="adj" fmla="val 179487"/>
            </a:avLst>
          </a:prstGeom>
          <a:solidFill>
            <a:srgbClr val="5A6B72"/>
          </a:solidFill>
          <a:ln w="12700">
            <a:solidFill>
              <a:srgbClr val="5A6B7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48640" y="2871216"/>
            <a:ext cx="3246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proyecto  </a:t>
            </a:r>
            <a:pPr indent="0" marL="0">
              <a:buNone/>
            </a:pPr>
            <a:r>
              <a:rPr lang="en-US" sz="8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18–29 ene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970306" y="2926080"/>
            <a:ext cx="670006" cy="178308"/>
          </a:xfrm>
          <a:prstGeom prst="roundRect">
            <a:avLst>
              <a:gd name="adj" fmla="val 179487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" y="3159252"/>
            <a:ext cx="11201400" cy="288036"/>
          </a:xfrm>
          <a:prstGeom prst="rect">
            <a:avLst/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48640" y="3159252"/>
            <a:ext cx="3246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· Arquitectura  </a:t>
            </a:r>
            <a:pPr indent="0" marL="0">
              <a:buNone/>
            </a:pPr>
            <a:r>
              <a:rPr lang="en-US" sz="8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sep – 02 oct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964361" y="3214116"/>
            <a:ext cx="670006" cy="178308"/>
          </a:xfrm>
          <a:prstGeom prst="roundRect">
            <a:avLst>
              <a:gd name="adj" fmla="val 17948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48640" y="3447288"/>
            <a:ext cx="3246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Módulos 1–2  </a:t>
            </a:r>
            <a:pPr indent="0" marL="0">
              <a:buNone/>
            </a:pPr>
            <a:r>
              <a:rPr lang="en-US" sz="8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05–16 oct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670943" y="3502152"/>
            <a:ext cx="670006" cy="178308"/>
          </a:xfrm>
          <a:prstGeom prst="roundRect">
            <a:avLst>
              <a:gd name="adj" fmla="val 17948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920" y="3735324"/>
            <a:ext cx="11201400" cy="288036"/>
          </a:xfrm>
          <a:prstGeom prst="rect">
            <a:avLst/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8640" y="3735324"/>
            <a:ext cx="3246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Módulos 3–4  </a:t>
            </a:r>
            <a:pPr indent="0" marL="0">
              <a:buNone/>
            </a:pPr>
            <a:r>
              <a:rPr lang="en-US" sz="8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19–30 oct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77524" y="3790188"/>
            <a:ext cx="670006" cy="178308"/>
          </a:xfrm>
          <a:prstGeom prst="roundRect">
            <a:avLst>
              <a:gd name="adj" fmla="val 17948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48640" y="4023360"/>
            <a:ext cx="3246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Módulo 5 + IA  </a:t>
            </a:r>
            <a:pPr indent="0" marL="0">
              <a:buNone/>
            </a:pPr>
            <a:r>
              <a:rPr lang="en-US" sz="8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02–13 nov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084106" y="4078224"/>
            <a:ext cx="670006" cy="178308"/>
          </a:xfrm>
          <a:prstGeom prst="roundRect">
            <a:avLst>
              <a:gd name="adj" fmla="val 17948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920" y="4311396"/>
            <a:ext cx="11201400" cy="288036"/>
          </a:xfrm>
          <a:prstGeom prst="rect">
            <a:avLst/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48640" y="4311396"/>
            <a:ext cx="3246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· Módulos 6–7  </a:t>
            </a:r>
            <a:pPr indent="0" marL="0">
              <a:buNone/>
            </a:pPr>
            <a:r>
              <a:rPr lang="en-US" sz="8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16–27 nov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790688" y="4366260"/>
            <a:ext cx="670006" cy="178308"/>
          </a:xfrm>
          <a:prstGeom prst="roundRect">
            <a:avLst>
              <a:gd name="adj" fmla="val 17948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48640" y="4599432"/>
            <a:ext cx="3246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· Módulos 8–9  </a:t>
            </a:r>
            <a:pPr indent="0" marL="0">
              <a:buNone/>
            </a:pPr>
            <a:r>
              <a:rPr lang="en-US" sz="8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nov – 11 dic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497270" y="4654296"/>
            <a:ext cx="670006" cy="178308"/>
          </a:xfrm>
          <a:prstGeom prst="roundRect">
            <a:avLst>
              <a:gd name="adj" fmla="val 17948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2920" y="4887468"/>
            <a:ext cx="11201400" cy="288036"/>
          </a:xfrm>
          <a:prstGeom prst="rect">
            <a:avLst/>
          </a:prstGeom>
          <a:solidFill>
            <a:srgbClr val="F7FAFA"/>
          </a:solidFill>
          <a:ln w="12700">
            <a:solidFill>
              <a:srgbClr val="F7FAF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48640" y="4887468"/>
            <a:ext cx="3246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· Módulos 10–11  </a:t>
            </a:r>
            <a:pPr indent="0" marL="0">
              <a:buNone/>
            </a:pPr>
            <a:r>
              <a:rPr lang="en-US" sz="8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14–23 dic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203852" y="4942332"/>
            <a:ext cx="670006" cy="178308"/>
          </a:xfrm>
          <a:prstGeom prst="roundRect">
            <a:avLst>
              <a:gd name="adj" fmla="val 17948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48640" y="5175504"/>
            <a:ext cx="3246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7 · Integración y UAT  </a:t>
            </a:r>
            <a:pPr indent="0" marL="0">
              <a:buNone/>
            </a:pPr>
            <a:r>
              <a:rPr lang="en-US" sz="8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04–15 ene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10263724" y="5230368"/>
            <a:ext cx="670006" cy="178308"/>
          </a:xfrm>
          <a:prstGeom prst="roundRect">
            <a:avLst>
              <a:gd name="adj" fmla="val 179487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48640" y="5463540"/>
            <a:ext cx="32461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de control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315552" y="5504688"/>
            <a:ext cx="201168" cy="201168"/>
          </a:xfrm>
          <a:prstGeom prst="diamond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315552" y="5504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022134" y="5504688"/>
            <a:ext cx="201168" cy="201168"/>
          </a:xfrm>
          <a:prstGeom prst="diamond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022134" y="5504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6788589" y="5504688"/>
            <a:ext cx="201168" cy="201168"/>
          </a:xfrm>
          <a:prstGeom prst="diamond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788589" y="5504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8201752" y="5504688"/>
            <a:ext cx="201168" cy="201168"/>
          </a:xfrm>
          <a:prstGeom prst="diamond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201752" y="5504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9614916" y="5504688"/>
            <a:ext cx="201168" cy="201168"/>
          </a:xfrm>
          <a:prstGeom prst="diamond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614916" y="5504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10674789" y="5504688"/>
            <a:ext cx="201168" cy="201168"/>
          </a:xfrm>
          <a:prstGeom prst="diamond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0674789" y="5504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11381371" y="5504688"/>
            <a:ext cx="201168" cy="201168"/>
          </a:xfrm>
          <a:prstGeom prst="diamond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1381371" y="5504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84" name="Text 82"/>
          <p:cNvSpPr txBox="1"/>
          <p:nvPr/>
        </p:nvSpPr>
        <p:spPr>
          <a:xfrm>
            <a:off x="548640" y="583387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Hitos:  </a:t>
            </a:r>
            <a:pPr indent="0" marL="0"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Acta de constitución  ·  2 Plan del proyecto y backlog aprobados  ·  3 Demo módulos 1–4  ·  4 Demo módulos 5–7  ·  5 Demo módulos 8–11  ·  6 UAT aprobada  ·  7 Acta de cierre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548640" y="6089904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del 28 de diciembre al 1 de enero prevista como receso; no se programan sprints.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tentativo. Las fechas se confirman en el proceso de planificación y se controlan mediante línea base y control integrado de cambios.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sprints y entregables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828800"/>
                <a:gridCol w="4572000"/>
                <a:gridCol w="38679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 del 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Entregable principal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sep – 02 oct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Arquitectura, ambientes, CI/CD, diseño del modelo de datos y prototipo de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Arquitectura aprobada y esqueleto navegable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– 16 oct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Núcleo CRM, seguridad y roles · Módulos 1 y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Información general y evaluación inicial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– 30 oct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Módulos 3 y 4 con copiloto redactor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y objetivos del SG-SST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– 13 nov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5 y agente normativo con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Matriz legal con evaluación de cumplimiento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– 27 nov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Módulos 6 y 7 con agente de riesgos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Matrices de peligros y de valoración de riesgos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nov – 11 dic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Módulos 8 y 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Programas de gestión y asignación de recursos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– 23 dic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Módulos 10 y 11, tableros y exportaciones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Indicadores y plan anual de trabajo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– 15 ene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Integración, desempeño, seguridad y pruebas de aceptación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candidata a producción y UAT aprobada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sprint cierra con una demostración funcional al cliente y una retrospectiva del equipo. Sprints de dos semanas, velocidad ajustable tras el Sprint 1.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del presupuesto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642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TOTAL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385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$26.000.000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colombianos (COP) · No incluye IVA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709928" cy="1170432"/>
          </a:xfrm>
          <a:prstGeom prst="roundRect">
            <a:avLst>
              <a:gd name="adj" fmla="val 6250"/>
            </a:avLst>
          </a:prstGeom>
          <a:solidFill>
            <a:srgbClr val="EFF4F4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" y="36758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meses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407822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total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59152" y="3474720"/>
            <a:ext cx="1709928" cy="1170432"/>
          </a:xfrm>
          <a:prstGeom prst="roundRect">
            <a:avLst>
              <a:gd name="adj" fmla="val 6250"/>
            </a:avLst>
          </a:prstGeom>
          <a:solidFill>
            <a:srgbClr val="EFF4F4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05456" y="36758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sprints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505456" y="407822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Iteraciones de 2 semanas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4773168"/>
            <a:ext cx="1709928" cy="1170432"/>
          </a:xfrm>
          <a:prstGeom prst="roundRect">
            <a:avLst>
              <a:gd name="adj" fmla="val 6250"/>
            </a:avLst>
          </a:prstGeom>
          <a:solidFill>
            <a:srgbClr val="EFF4F4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" y="49743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$5.200.000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" y="53766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promedio mensual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59152" y="4773168"/>
            <a:ext cx="1709928" cy="1170432"/>
          </a:xfrm>
          <a:prstGeom prst="roundRect">
            <a:avLst>
              <a:gd name="adj" fmla="val 6250"/>
            </a:avLst>
          </a:prstGeom>
          <a:solidFill>
            <a:srgbClr val="EFF4F4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05456" y="49743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$3.250.000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505456" y="53766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promedio por sprint</a:t>
            </a:r>
            <a:endParaRPr lang="en-US" sz="9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343400" y="1463040"/>
          <a:ext cx="73609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estimado. Sujeto a la línea base de costos que se aprueba en la planificación; el consumo de APIs de IA se controla con límites de uso por token.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riesgos identificados y su respuesta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00784"/>
            <a:ext cx="777240" cy="274320"/>
          </a:xfrm>
          <a:prstGeom prst="roundRect">
            <a:avLst>
              <a:gd name="adj" fmla="val 33333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7007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048256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alcance durante los sprints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33472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de alcance firmada y control integrado de cambios; toda solicitud se evalúa en impacto de tiempo y costo antes de entrar al backlog.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15968" y="148132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700784"/>
            <a:ext cx="777240" cy="274320"/>
          </a:xfrm>
          <a:prstGeom prst="roundRect">
            <a:avLst>
              <a:gd name="adj" fmla="val 33333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7007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048256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limitada del especialista en SST del cliente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33472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validación pactada desde el Sprint 0, con ventanas fijas por sprint y un suplente designado.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83296" y="148132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700784"/>
            <a:ext cx="777240" cy="274320"/>
          </a:xfrm>
          <a:prstGeom prst="roundRect">
            <a:avLst>
              <a:gd name="adj" fmla="val 33333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39328" y="17007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2048256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variable del consumo de APIs de IA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2633472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de gasto por ambiente, caché de respuestas, selección del modelo según la tarea y monitoreo semanal del consumo.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67588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895344"/>
            <a:ext cx="777240" cy="274320"/>
          </a:xfrm>
          <a:prstGeom prst="roundRect">
            <a:avLst>
              <a:gd name="adj" fmla="val 33333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38953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242816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Imprecisión en las salidas generadas por los modelos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828032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Obligatoriedad de revisión humana, RAG anclado a fuentes normativas y registro de la fuente en cada sugerencia.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15968" y="367588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895344"/>
            <a:ext cx="777240" cy="274320"/>
          </a:xfrm>
          <a:prstGeom prst="roundRect">
            <a:avLst>
              <a:gd name="adj" fmla="val 33333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38953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242816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ajustado frente al alcance de 11 módulos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828032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MoSCoW del backlog: si la velocidad baja, se recortan funcionalidades deseables, nunca las obligatorias.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83296" y="3675888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9328" y="3895344"/>
            <a:ext cx="777240" cy="274320"/>
          </a:xfrm>
          <a:prstGeom prst="roundRect">
            <a:avLst>
              <a:gd name="adj" fmla="val 33333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39328" y="38953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339328" y="4242816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Receso de fin de año y rotación del equipo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339328" y="4828032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que ya excluye la semana de receso, documentación continua y pares por componente.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de riesgos se mantiene vivo durante todo el proyecto y se revisa en cada Sprint Review.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y criterios de aceptación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del proyecto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1783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SOFIA desplegada con los 11 módulos de la etapa PLANEAR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23500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IA operativa con los cuatro agentes descritos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44368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291693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y repositorio entregados al cliente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11296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348386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 y manual técnico de administración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78224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078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40507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y evidencia de ejecución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45152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645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" y="4617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PMI: acta de constitución, plan del proyecto, informes de desempeño y acta de cierre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5212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" y="51846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al equipo de SST y a los administradores del sistema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1417320"/>
            <a:ext cx="5148072" cy="4572000"/>
          </a:xfrm>
          <a:prstGeom prst="roundRect">
            <a:avLst>
              <a:gd name="adj" fmla="val 1600"/>
            </a:avLst>
          </a:prstGeom>
          <a:solidFill>
            <a:srgbClr val="EFF4F4"/>
          </a:solidFill>
          <a:ln w="12700">
            <a:solidFill>
              <a:srgbClr val="D6E2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84848" y="1664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20665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23042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11 módulos operan de extremo a extremo y generan las salidas definidas en el alcance.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784848" y="28529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NORMATIVO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784848" y="30906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salidas responden a la estructura exigida por el Decreto 1072 de 2015 y la Resolución 0312 de 2019, validadas por el especialista en SST.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784848" y="36393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784848" y="38770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aceptación (UAT) superadas sin defectos críticos ni mayores abiertos.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784848" y="44256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784848" y="4663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respuesta aceptables con el volumen de datos acordado en la planificación.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784848" y="52120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DOCUMENTAL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784848" y="54498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 entregados y capacitación realizada con lista de asistencia firmada.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ESTE CICLO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los ciclos que siguen a PLANEAR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siguiente es un proyecto independiente, con su propio contrato, alcance y presupuesto. Se activan por decisión de los stakeholders.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2455A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37744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EC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2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5176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HACER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0040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operativa: inspecciones, entrega de EPP, capacitaciones, exámenes médicos, investigación de incidentes y gestión de contratistas.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4136" y="21488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2455A"/>
          </a:solidFill>
          <a:ln w="15875">
            <a:solidFill>
              <a:srgbClr val="4FA8A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0168" y="237744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EC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3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265176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320040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internas, medición de indicadores en tiempo real, revisión por la alta dirección y tableros de cumplimiento.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9632" y="21488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2455A"/>
          </a:solidFill>
          <a:ln w="15875">
            <a:solidFill>
              <a:srgbClr val="E9A1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55664" y="237744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EC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4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265176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ACTUAR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320040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correctivas, preventivas y de mejora, con seguimiento automático de planes y cierre de hallazgos.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25128" y="21488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2455A"/>
          </a:solidFill>
          <a:ln w="15875">
            <a:solidFill>
              <a:srgbClr val="C855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81160" y="237744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EC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5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265176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ESCALAR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3200400"/>
            <a:ext cx="21396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F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Multiempresa, app móvil para trabajadores en campo, integración con ARL y analítica predictiva de accidentalidad.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de SOFIA se diseña desde el primer día para soportar estos ciclos sin reescribir el núcleo.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029200" cy="5029200"/>
          </a:xfrm>
          <a:prstGeom prst="ellipse">
            <a:avLst/>
          </a:prstGeom>
          <a:solidFill>
            <a:srgbClr val="12455A"/>
          </a:solidFill>
          <a:ln w="12700">
            <a:solidFill>
              <a:srgbClr val="1245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arrancar el 1 de septiembre de 2026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642616"/>
            <a:ext cx="402336" cy="402336"/>
          </a:xfrm>
          <a:prstGeom prst="ellipse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6060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 la propuesta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28986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del alcance, cronograma y presupuesto por parte de los stakeholders.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483864"/>
            <a:ext cx="402336" cy="402336"/>
          </a:xfrm>
          <a:prstGeom prst="ellipse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83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344728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del acta de constitución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7398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Formalización del proyecto, designación del patrocinador y del equipo.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325112"/>
            <a:ext cx="402336" cy="402336"/>
          </a:xfrm>
          <a:prstGeom prst="ellipse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25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28853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detallada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45811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de alcance, tiempo y costo; construcción del product backlog inicial.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402336" cy="402336"/>
          </a:xfrm>
          <a:prstGeom prst="ellipse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166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512978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54223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técnico: arquitectura, ambientes y prototipo navegable.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0" y="2377440"/>
            <a:ext cx="4142232" cy="3063240"/>
          </a:xfrm>
          <a:prstGeom prst="roundRect">
            <a:avLst>
              <a:gd name="adj" fmla="val 2985"/>
            </a:avLst>
          </a:prstGeom>
          <a:solidFill>
            <a:srgbClr val="12455A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0" y="2697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SOFIA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33375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F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Planear la seguridad y salud en el trabajo deja de ser un archivo de Excel y pasa a ser un sistema vivo, trazable y asistido por inteligencia artificial.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4892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PLANEAR · 5 meses · $26.000.000 COP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preliminar para discusión con los stakeholders. Cronograma y presupuesto tentativos.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SOFIA - CRM inteligente para SG-SST</dc:title>
  <dc:subject>PptxGenJS Presentation</dc:subject>
  <dc:creator>Equipo de Proyecto SOFIA</dc:creator>
  <cp:lastModifiedBy>Equipo de Proyecto SOFIA</cp:lastModifiedBy>
  <cp:revision>1</cp:revision>
  <dcterms:created xsi:type="dcterms:W3CDTF">2026-08-27T20:09:15Z</dcterms:created>
  <dcterms:modified xsi:type="dcterms:W3CDTF">2026-08-27T20:09:15Z</dcterms:modified>
</cp:coreProperties>
</file>